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E7"/>
    <a:srgbClr val="F7F9E7"/>
    <a:srgbClr val="F8F9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85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277F0-D643-483B-91F1-2A5829294E40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8EB70-2CEF-420F-9A51-BDB9AF8253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408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05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054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869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41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992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91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904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886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606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16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56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09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95743" y="2904299"/>
            <a:ext cx="3717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>
                <a:latin typeface="Arial Black" panose="020B0A04020102020204" pitchFamily="34" charset="0"/>
              </a:rPr>
              <a:t>Дроздов Александр Евгеньевич,</a:t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err="1" smtClean="0">
                <a:latin typeface="Arial Black" panose="020B0A04020102020204" pitchFamily="34" charset="0"/>
              </a:rPr>
              <a:t>Коликов</a:t>
            </a:r>
            <a:r>
              <a:rPr lang="ru-RU" sz="1400" dirty="0" smtClean="0">
                <a:latin typeface="Arial Black" panose="020B0A04020102020204" pitchFamily="34" charset="0"/>
              </a:rPr>
              <a:t> Егор Александрович,</a:t>
            </a:r>
          </a:p>
          <a:p>
            <a:pPr algn="ctr"/>
            <a:r>
              <a:rPr lang="ru-RU" sz="1400" dirty="0" smtClean="0">
                <a:latin typeface="Arial Black" panose="020B0A04020102020204" pitchFamily="34" charset="0"/>
              </a:rPr>
              <a:t>Валеев Кирилл Вячеславович</a:t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smtClean="0">
                <a:latin typeface="Arial Black" panose="020B0A04020102020204" pitchFamily="34" charset="0"/>
              </a:rPr>
              <a:t>МАОУ АЛ №95</a:t>
            </a:r>
            <a:endParaRPr lang="ru-RU" sz="1400" dirty="0">
              <a:latin typeface="Arial Black" panose="020B0A04020102020204" pitchFamily="34" charset="0"/>
            </a:endParaRPr>
          </a:p>
        </p:txBody>
      </p:sp>
      <p:pic>
        <p:nvPicPr>
          <p:cNvPr id="1026" name="Picture 2" descr="https://cdn.qwenlm.ai/output/da8f3f2a-e461-4819-91b1-8148404a584f/t2i/3052b013-2313-4c1c-84a1-889eef942b8b/1792901697d957.png?key=eyJhbGciOiJIUzI1NiIsInR5cCI6IkpXVCJ9.eyJyZXNvdXJjZV91c2VyX2lkIjoiZGE4ZjNmMmEtZTQ2MS00ODE5LTkxYjEtODE0ODQwNGE1ODRmIiwicmVzb3VyY2VfaWQiOiIxNzkyOTAxNjk3ZDk1NyIsInJlc291cmNlX2NoYXRfaWQiOiI2ZGFiNzg3YS02ZjA5LTRhYTAtOTc3Ni1jYjM1ZWQ4NjUzYmMifQ.TuXz3NlJk8HLsZWSj6WZ85X9FKZ2GwDRPXCLWCuehRU&amp;x-oss-process=image/resize,m_mfit,w_450,h_45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9632" y="1122621"/>
            <a:ext cx="1450450" cy="145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963" y="1122621"/>
            <a:ext cx="1460037" cy="146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736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191500" y="2044700"/>
            <a:ext cx="2959100" cy="406400"/>
          </a:xfrm>
          <a:prstGeom prst="rect">
            <a:avLst/>
          </a:prstGeom>
          <a:solidFill>
            <a:srgbClr val="F7F9E7"/>
          </a:solidFill>
          <a:ln>
            <a:solidFill>
              <a:srgbClr val="F8F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Проблема</a:t>
            </a:r>
            <a:endParaRPr lang="ru-RU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191500" y="2436223"/>
            <a:ext cx="30353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latin typeface="Arial Black" panose="020B0A04020102020204" pitchFamily="34" charset="0"/>
              </a:rPr>
              <a:t>Исчезновение видов Красной книги Челябинской области из-за хозяйственной деятельности и изменения климата</a:t>
            </a:r>
            <a:r>
              <a:rPr lang="ru-RU" sz="1400" dirty="0" smtClean="0">
                <a:latin typeface="Arial Black" panose="020B0A04020102020204" pitchFamily="34" charset="0"/>
              </a:rPr>
              <a:t>.</a:t>
            </a:r>
            <a:endParaRPr lang="ru-RU" sz="1400" dirty="0">
              <a:latin typeface="Arial Black" panose="020B0A040201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56012" y="2446020"/>
            <a:ext cx="315595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Arial Black" panose="020B0A04020102020204" pitchFamily="34" charset="0"/>
              </a:rPr>
              <a:t>Школьники: </a:t>
            </a:r>
            <a:r>
              <a:rPr lang="ru-RU" sz="1400" dirty="0">
                <a:latin typeface="Arial Black" panose="020B0A04020102020204" pitchFamily="34" charset="0"/>
              </a:rPr>
              <a:t>Образовательные экскурсии, изучение ботаники и </a:t>
            </a:r>
            <a:r>
              <a:rPr lang="ru-RU" sz="1400" dirty="0" smtClean="0">
                <a:latin typeface="Arial Black" panose="020B0A04020102020204" pitchFamily="34" charset="0"/>
              </a:rPr>
              <a:t>экологии.</a:t>
            </a:r>
            <a:endParaRPr lang="ru-RU" sz="1400" dirty="0">
              <a:latin typeface="Arial Black" panose="020B0A04020102020204" pitchFamily="34" charset="0"/>
            </a:endParaRPr>
          </a:p>
          <a:p>
            <a:r>
              <a:rPr lang="ru-RU" sz="1400" dirty="0" smtClean="0">
                <a:latin typeface="Arial Black" panose="020B0A04020102020204" pitchFamily="34" charset="0"/>
              </a:rPr>
              <a:t>Специалисты-ботаники: </a:t>
            </a:r>
            <a:r>
              <a:rPr lang="ru-RU" sz="1400" dirty="0">
                <a:latin typeface="Arial Black" panose="020B0A04020102020204" pitchFamily="34" charset="0"/>
              </a:rPr>
              <a:t>Работа с коллекцией, размножение, мониторинг здоровья растений.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454434" y="2044700"/>
            <a:ext cx="3331029" cy="406400"/>
          </a:xfrm>
          <a:prstGeom prst="rect">
            <a:avLst/>
          </a:prstGeom>
          <a:solidFill>
            <a:srgbClr val="F7F9E7"/>
          </a:solidFill>
          <a:ln>
            <a:solidFill>
              <a:srgbClr val="F8F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Задачи</a:t>
            </a:r>
            <a:endParaRPr lang="ru-RU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454434" y="2436223"/>
            <a:ext cx="291301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Arial Black" panose="020B0A04020102020204" pitchFamily="34" charset="0"/>
              </a:rPr>
              <a:t>- Разработать </a:t>
            </a:r>
            <a:r>
              <a:rPr lang="ru-RU" sz="1400" dirty="0">
                <a:latin typeface="Arial Black" panose="020B0A04020102020204" pitchFamily="34" charset="0"/>
              </a:rPr>
              <a:t>систему </a:t>
            </a:r>
            <a:r>
              <a:rPr lang="ru-RU" sz="1400" dirty="0" smtClean="0">
                <a:latin typeface="Arial Black" panose="020B0A04020102020204" pitchFamily="34" charset="0"/>
              </a:rPr>
              <a:t>зонирования</a:t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smtClean="0">
                <a:latin typeface="Arial Black" panose="020B0A04020102020204" pitchFamily="34" charset="0"/>
              </a:rPr>
              <a:t>- </a:t>
            </a:r>
            <a:r>
              <a:rPr lang="ru-RU" sz="1400" dirty="0">
                <a:latin typeface="Arial Black" panose="020B0A04020102020204" pitchFamily="34" charset="0"/>
              </a:rPr>
              <a:t>Внедрить автоматизированный </a:t>
            </a:r>
            <a:r>
              <a:rPr lang="ru-RU" sz="1400" dirty="0" smtClean="0">
                <a:latin typeface="Arial Black" panose="020B0A04020102020204" pitchFamily="34" charset="0"/>
              </a:rPr>
              <a:t>контроль</a:t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smtClean="0">
                <a:latin typeface="Arial Black" panose="020B0A04020102020204" pitchFamily="34" charset="0"/>
              </a:rPr>
              <a:t>- </a:t>
            </a:r>
            <a:r>
              <a:rPr lang="ru-RU" sz="1400" dirty="0">
                <a:latin typeface="Arial Black" panose="020B0A04020102020204" pitchFamily="34" charset="0"/>
              </a:rPr>
              <a:t>Обеспечить легальное получение</a:t>
            </a:r>
            <a:endParaRPr lang="ru-RU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14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6521425" y="945270"/>
            <a:ext cx="5052266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Arial Black" panose="020B0A04020102020204" pitchFamily="34" charset="0"/>
              </a:rPr>
              <a:t>1. </a:t>
            </a:r>
            <a:r>
              <a:rPr lang="ru-RU" sz="1600" dirty="0" smtClean="0">
                <a:latin typeface="Arial Black" panose="020B0A04020102020204" pitchFamily="34" charset="0"/>
              </a:rPr>
              <a:t>Лук косой</a:t>
            </a:r>
            <a:r>
              <a:rPr lang="en-US" sz="1600" dirty="0" smtClean="0">
                <a:latin typeface="Arial Black" panose="020B0A04020102020204" pitchFamily="34" charset="0"/>
              </a:rPr>
              <a:t>, </a:t>
            </a:r>
            <a:r>
              <a:rPr lang="ru-RU" sz="1600" dirty="0">
                <a:latin typeface="Arial Black" panose="020B0A04020102020204" pitchFamily="34" charset="0"/>
              </a:rPr>
              <a:t>Касатик </a:t>
            </a:r>
            <a:r>
              <a:rPr lang="ru-RU" sz="1600" dirty="0" smtClean="0">
                <a:latin typeface="Arial Black" panose="020B0A04020102020204" pitchFamily="34" charset="0"/>
              </a:rPr>
              <a:t>малый</a:t>
            </a:r>
            <a:r>
              <a:rPr lang="en-US" sz="1600" dirty="0" smtClean="0">
                <a:latin typeface="Arial Black" panose="020B0A04020102020204" pitchFamily="34" charset="0"/>
              </a:rPr>
              <a:t/>
            </a:r>
            <a:br>
              <a:rPr lang="en-US" sz="1600" dirty="0" smtClean="0">
                <a:latin typeface="Arial Black" panose="020B0A04020102020204" pitchFamily="34" charset="0"/>
              </a:rPr>
            </a:br>
            <a:r>
              <a:rPr lang="en-US" sz="1600" dirty="0" smtClean="0">
                <a:latin typeface="Arial Black" panose="020B0A04020102020204" pitchFamily="34" charset="0"/>
              </a:rPr>
              <a:t>2. </a:t>
            </a:r>
            <a:r>
              <a:rPr lang="ru-RU" sz="1600" dirty="0" err="1">
                <a:latin typeface="Arial Black" panose="020B0A04020102020204" pitchFamily="34" charset="0"/>
              </a:rPr>
              <a:t>Зизфора</a:t>
            </a:r>
            <a:r>
              <a:rPr lang="ru-RU" sz="1600" dirty="0">
                <a:latin typeface="Arial Black" panose="020B0A04020102020204" pitchFamily="34" charset="0"/>
              </a:rPr>
              <a:t> </a:t>
            </a:r>
            <a:r>
              <a:rPr lang="ru-RU" sz="1600" dirty="0" err="1" smtClean="0">
                <a:latin typeface="Arial Black" panose="020B0A04020102020204" pitchFamily="34" charset="0"/>
              </a:rPr>
              <a:t>пахучковидная</a:t>
            </a:r>
            <a:r>
              <a:rPr lang="en-US" sz="1600" dirty="0" smtClean="0">
                <a:latin typeface="Arial Black" panose="020B0A04020102020204" pitchFamily="34" charset="0"/>
              </a:rPr>
              <a:t>, </a:t>
            </a:r>
            <a:r>
              <a:rPr lang="ru-RU" sz="1600" dirty="0" err="1">
                <a:latin typeface="Arial Black" panose="020B0A04020102020204" pitchFamily="34" charset="0"/>
              </a:rPr>
              <a:t>Зизфора</a:t>
            </a:r>
            <a:r>
              <a:rPr lang="ru-RU" sz="1600" dirty="0">
                <a:latin typeface="Arial Black" panose="020B0A04020102020204" pitchFamily="34" charset="0"/>
              </a:rPr>
              <a:t> </a:t>
            </a:r>
            <a:r>
              <a:rPr lang="en-US" sz="1600" dirty="0" smtClean="0">
                <a:latin typeface="Arial Black" panose="020B0A04020102020204" pitchFamily="34" charset="0"/>
              </a:rPr>
              <a:t>        </a:t>
            </a:r>
            <a:r>
              <a:rPr lang="ru-RU" sz="1600" dirty="0" err="1" smtClean="0">
                <a:latin typeface="Arial Black" panose="020B0A04020102020204" pitchFamily="34" charset="0"/>
              </a:rPr>
              <a:t>пахучковидная</a:t>
            </a:r>
            <a:endParaRPr lang="ru-RU" sz="1600" dirty="0">
              <a:latin typeface="Arial Black" panose="020B0A04020102020204" pitchFamily="34" charset="0"/>
            </a:endParaRPr>
          </a:p>
          <a:p>
            <a:r>
              <a:rPr lang="en-US" sz="1600" dirty="0" smtClean="0">
                <a:latin typeface="Arial Black" panose="020B0A04020102020204" pitchFamily="34" charset="0"/>
              </a:rPr>
              <a:t>3. </a:t>
            </a:r>
            <a:r>
              <a:rPr lang="ru-RU" b="1" dirty="0"/>
              <a:t>Дриада </a:t>
            </a:r>
            <a:r>
              <a:rPr lang="ru-RU" b="1" dirty="0" smtClean="0"/>
              <a:t>надрезная,</a:t>
            </a:r>
            <a:r>
              <a:rPr lang="ru-RU" b="1" dirty="0"/>
              <a:t> Мытник </a:t>
            </a:r>
            <a:r>
              <a:rPr lang="ru-RU" b="1" dirty="0" err="1"/>
              <a:t>плотноцветковый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/>
              <a:t/>
            </a:r>
            <a:br>
              <a:rPr lang="ru-RU" sz="1600" dirty="0"/>
            </a:br>
            <a:endParaRPr lang="ru-RU" sz="1600" dirty="0">
              <a:latin typeface="Arial Black" panose="020B0A04020102020204" pitchFamily="34" charset="0"/>
            </a:endParaRPr>
          </a:p>
          <a:p>
            <a:r>
              <a:rPr lang="ru-RU" sz="1600" dirty="0" smtClean="0">
                <a:latin typeface="Arial Black" panose="020B0A04020102020204" pitchFamily="34" charset="0"/>
              </a:rPr>
              <a:t/>
            </a:r>
            <a:br>
              <a:rPr lang="ru-RU" sz="1600" dirty="0" smtClean="0">
                <a:latin typeface="Arial Black" panose="020B0A04020102020204" pitchFamily="34" charset="0"/>
              </a:rPr>
            </a:br>
            <a:r>
              <a:rPr lang="ru-RU" sz="1600" dirty="0" smtClean="0">
                <a:latin typeface="Arial Black" panose="020B0A04020102020204" pitchFamily="34" charset="0"/>
              </a:rPr>
              <a:t>1. Сухой степной</a:t>
            </a:r>
            <a:br>
              <a:rPr lang="ru-RU" sz="1600" dirty="0" smtClean="0">
                <a:latin typeface="Arial Black" panose="020B0A04020102020204" pitchFamily="34" charset="0"/>
              </a:rPr>
            </a:br>
            <a:r>
              <a:rPr lang="ru-RU" sz="1600" dirty="0" smtClean="0">
                <a:latin typeface="Arial Black" panose="020B0A04020102020204" pitchFamily="34" charset="0"/>
              </a:rPr>
              <a:t>2. </a:t>
            </a:r>
            <a:r>
              <a:rPr lang="ru-RU" sz="1600">
                <a:latin typeface="Arial Black" panose="020B0A04020102020204" pitchFamily="34" charset="0"/>
              </a:rPr>
              <a:t>Сухой </a:t>
            </a:r>
            <a:r>
              <a:rPr lang="ru-RU" sz="1600" smtClean="0">
                <a:latin typeface="Arial Black" panose="020B0A04020102020204" pitchFamily="34" charset="0"/>
              </a:rPr>
              <a:t>злаковый </a:t>
            </a:r>
            <a:r>
              <a:rPr lang="ru-RU" sz="1600" dirty="0" smtClean="0">
                <a:latin typeface="Arial Black" panose="020B0A04020102020204" pitchFamily="34" charset="0"/>
              </a:rPr>
              <a:t/>
            </a:r>
            <a:br>
              <a:rPr lang="ru-RU" sz="1600" dirty="0" smtClean="0">
                <a:latin typeface="Arial Black" panose="020B0A04020102020204" pitchFamily="34" charset="0"/>
              </a:rPr>
            </a:br>
            <a:r>
              <a:rPr lang="ru-RU" sz="1600" dirty="0" smtClean="0">
                <a:latin typeface="Arial Black" panose="020B0A04020102020204" pitchFamily="34" charset="0"/>
              </a:rPr>
              <a:t>3.</a:t>
            </a:r>
            <a:r>
              <a:rPr lang="ru-RU" sz="1600" dirty="0">
                <a:latin typeface="Arial Black" panose="020B0A04020102020204" pitchFamily="34" charset="0"/>
              </a:rPr>
              <a:t> </a:t>
            </a:r>
            <a:r>
              <a:rPr lang="ru-RU" sz="1600" dirty="0" smtClean="0">
                <a:latin typeface="Arial Black" panose="020B0A04020102020204" pitchFamily="34" charset="0"/>
              </a:rPr>
              <a:t>Горно-таёжный</a:t>
            </a:r>
            <a:br>
              <a:rPr lang="ru-RU" sz="1600" dirty="0" smtClean="0">
                <a:latin typeface="Arial Black" panose="020B0A04020102020204" pitchFamily="34" charset="0"/>
              </a:rPr>
            </a:br>
            <a:r>
              <a:rPr lang="ru-RU" sz="1600" dirty="0" smtClean="0">
                <a:latin typeface="Arial Black" panose="020B0A04020102020204" pitchFamily="34" charset="0"/>
              </a:rPr>
              <a:t>4. Лесостепной</a:t>
            </a:r>
            <a:br>
              <a:rPr lang="ru-RU" sz="1600" dirty="0" smtClean="0">
                <a:latin typeface="Arial Black" panose="020B0A04020102020204" pitchFamily="34" charset="0"/>
              </a:rPr>
            </a:br>
            <a:r>
              <a:rPr lang="ru-RU" sz="1600" dirty="0" smtClean="0">
                <a:latin typeface="Arial Black" panose="020B0A04020102020204" pitchFamily="34" charset="0"/>
              </a:rPr>
              <a:t>5. Луговой</a:t>
            </a:r>
            <a:br>
              <a:rPr lang="ru-RU" sz="1600" dirty="0" smtClean="0">
                <a:latin typeface="Arial Black" panose="020B0A04020102020204" pitchFamily="34" charset="0"/>
              </a:rPr>
            </a:br>
            <a:r>
              <a:rPr lang="ru-RU" sz="1600" dirty="0"/>
              <a:t/>
            </a:r>
            <a:br>
              <a:rPr lang="ru-RU" sz="1600" dirty="0"/>
            </a:br>
            <a:endParaRPr lang="ru-RU" sz="1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058091" y="2468879"/>
            <a:ext cx="45850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err="1" smtClean="0">
                <a:latin typeface="Arial Black" panose="020B0A04020102020204" pitchFamily="34" charset="0"/>
              </a:rPr>
              <a:t>Пыльцеголовнику</a:t>
            </a:r>
            <a:r>
              <a:rPr lang="ru-RU" sz="1400" dirty="0" smtClean="0">
                <a:latin typeface="Arial Black" panose="020B0A04020102020204" pitchFamily="34" charset="0"/>
              </a:rPr>
              <a:t> Красному – мало освещения.</a:t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err="1" smtClean="0">
                <a:latin typeface="Arial Black" panose="020B0A04020102020204" pitchFamily="34" charset="0"/>
              </a:rPr>
              <a:t>Качим</a:t>
            </a:r>
            <a:r>
              <a:rPr lang="ru-RU" sz="1400" dirty="0" smtClean="0">
                <a:latin typeface="Arial Black" panose="020B0A04020102020204" pitchFamily="34" charset="0"/>
              </a:rPr>
              <a:t> Высочайший – много освещения.</a:t>
            </a:r>
            <a:endParaRPr lang="ru-RU" sz="1400" dirty="0">
              <a:latin typeface="Arial Black" panose="020B0A040201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68801" y="2468879"/>
            <a:ext cx="45864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Arial Black" panose="020B0A04020102020204" pitchFamily="34" charset="0"/>
              </a:rPr>
              <a:t>Любка </a:t>
            </a:r>
            <a:r>
              <a:rPr lang="ru-RU" sz="1400" dirty="0" err="1" smtClean="0">
                <a:latin typeface="Arial Black" panose="020B0A04020102020204" pitchFamily="34" charset="0"/>
              </a:rPr>
              <a:t>Зеленоцветная</a:t>
            </a:r>
            <a:r>
              <a:rPr lang="ru-RU" sz="1400" dirty="0" smtClean="0">
                <a:latin typeface="Arial Black" panose="020B0A04020102020204" pitchFamily="34" charset="0"/>
              </a:rPr>
              <a:t> цветет в июне-июле.</a:t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smtClean="0">
                <a:latin typeface="Arial Black" panose="020B0A04020102020204" pitchFamily="34" charset="0"/>
              </a:rPr>
              <a:t>Ковыль </a:t>
            </a:r>
            <a:r>
              <a:rPr lang="ru-RU" sz="1400" dirty="0" err="1" smtClean="0">
                <a:latin typeface="Arial Black" panose="020B0A04020102020204" pitchFamily="34" charset="0"/>
              </a:rPr>
              <a:t>Перистный</a:t>
            </a:r>
            <a:r>
              <a:rPr lang="ru-RU" sz="1400" dirty="0" smtClean="0">
                <a:latin typeface="Arial Black" panose="020B0A04020102020204" pitchFamily="34" charset="0"/>
              </a:rPr>
              <a:t> – в мае.</a:t>
            </a:r>
            <a:endParaRPr lang="ru-RU" sz="1400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7029" y="4036422"/>
            <a:ext cx="10071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Arial Black" panose="020B0A04020102020204" pitchFamily="34" charset="0"/>
              </a:rPr>
              <a:t>Использование датчиков температур(воздуха, почвы), влажности(воздуха, почвы), спектра, кислотности и электропроводности почвы, протечки труб и видеонаблюдение.</a:t>
            </a:r>
            <a:endParaRPr lang="ru-RU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820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24691" y="4127863"/>
            <a:ext cx="10696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 smtClean="0">
                <a:latin typeface="Arial Black" panose="020B0A04020102020204" pitchFamily="34" charset="0"/>
              </a:rPr>
              <a:t>Автополив</a:t>
            </a:r>
            <a:r>
              <a:rPr lang="ru-RU" sz="1600" dirty="0">
                <a:latin typeface="Arial Black" panose="020B0A04020102020204" pitchFamily="34" charset="0"/>
              </a:rPr>
              <a:t> </a:t>
            </a:r>
            <a:r>
              <a:rPr lang="ru-RU" sz="1600" dirty="0" smtClean="0">
                <a:latin typeface="Arial Black" panose="020B0A04020102020204" pitchFamily="34" charset="0"/>
              </a:rPr>
              <a:t>по запросу, дозирование удобрений и регулирование кислотности среды, климат регуляция, световой режим и </a:t>
            </a:r>
            <a:r>
              <a:rPr lang="ru-RU" sz="1600" dirty="0" err="1" smtClean="0">
                <a:latin typeface="Arial Black" panose="020B0A04020102020204" pitchFamily="34" charset="0"/>
              </a:rPr>
              <a:t>логирование</a:t>
            </a:r>
            <a:r>
              <a:rPr lang="ru-RU" sz="1600" dirty="0" smtClean="0">
                <a:latin typeface="Arial Black" panose="020B0A04020102020204" pitchFamily="34" charset="0"/>
              </a:rPr>
              <a:t>.</a:t>
            </a:r>
            <a:endParaRPr lang="ru-RU" sz="1600" dirty="0"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24691" y="1732614"/>
            <a:ext cx="3185160" cy="391886"/>
          </a:xfrm>
          <a:prstGeom prst="rect">
            <a:avLst/>
          </a:prstGeom>
          <a:solidFill>
            <a:srgbClr val="F7F9E7"/>
          </a:solidFill>
          <a:ln>
            <a:solidFill>
              <a:srgbClr val="F8F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Характеристика почвы</a:t>
            </a:r>
            <a:endParaRPr lang="ru-RU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4691" y="2211921"/>
            <a:ext cx="5251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Arial Black" panose="020B0A04020102020204" pitchFamily="34" charset="0"/>
              </a:rPr>
              <a:t>Механический состав, дренаж и водопроницаемость, микроэлементы и питательные вещества.</a:t>
            </a:r>
            <a:endParaRPr lang="ru-RU" sz="1600" dirty="0">
              <a:latin typeface="Arial Black" panose="020B0A04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2446" y="2211921"/>
            <a:ext cx="51598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Arial Black" panose="020B0A04020102020204" pitchFamily="34" charset="0"/>
              </a:rPr>
              <a:t>При аномальном изменении условий климата система отправит уведомление специалисту на его устройство</a:t>
            </a:r>
            <a:r>
              <a:rPr lang="ru-RU" sz="1400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613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7058438" y="1110734"/>
            <a:ext cx="45493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>
                <a:latin typeface="Arial Black" panose="020B0A04020102020204" pitchFamily="34" charset="0"/>
              </a:rPr>
              <a:t>С возможностью </a:t>
            </a:r>
            <a:r>
              <a:rPr lang="ru-RU" sz="1400" b="1" dirty="0" err="1" smtClean="0">
                <a:latin typeface="Arial Black" panose="020B0A04020102020204" pitchFamily="34" charset="0"/>
              </a:rPr>
              <a:t>детекции</a:t>
            </a:r>
            <a:r>
              <a:rPr lang="ru-RU" sz="1400" b="1" dirty="0" smtClean="0">
                <a:latin typeface="Arial Black" panose="020B0A04020102020204" pitchFamily="34" charset="0"/>
              </a:rPr>
              <a:t> </a:t>
            </a:r>
            <a:r>
              <a:rPr lang="ru-RU" sz="1400" b="1" dirty="0">
                <a:latin typeface="Arial Black" panose="020B0A04020102020204" pitchFamily="34" charset="0"/>
              </a:rPr>
              <a:t>пятен и </a:t>
            </a:r>
            <a:r>
              <a:rPr lang="ru-RU" sz="1400" b="1" dirty="0" smtClean="0">
                <a:latin typeface="Arial Black" panose="020B0A04020102020204" pitchFamily="34" charset="0"/>
              </a:rPr>
              <a:t>некрозов, индекса зелени, анализа </a:t>
            </a:r>
            <a:r>
              <a:rPr lang="ru-RU" sz="1400" b="1" dirty="0">
                <a:latin typeface="Arial Black" panose="020B0A04020102020204" pitchFamily="34" charset="0"/>
              </a:rPr>
              <a:t>тургора (вялости</a:t>
            </a:r>
            <a:r>
              <a:rPr lang="ru-RU" sz="1400" b="1" dirty="0" smtClean="0">
                <a:latin typeface="Arial Black" panose="020B0A04020102020204" pitchFamily="34" charset="0"/>
              </a:rPr>
              <a:t>) и последующее присвоение индивидуального статуса.</a:t>
            </a:r>
            <a:endParaRPr lang="ru-RU" sz="1400" dirty="0">
              <a:latin typeface="Arial Black" panose="020B0A040201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75" y="2928685"/>
            <a:ext cx="3568666" cy="345950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Box 10"/>
          <p:cNvSpPr txBox="1"/>
          <p:nvPr/>
        </p:nvSpPr>
        <p:spPr>
          <a:xfrm>
            <a:off x="7058438" y="3175575"/>
            <a:ext cx="44323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Arial Black" panose="020B0A04020102020204" pitchFamily="34" charset="0"/>
              </a:rPr>
              <a:t>Включающие </a:t>
            </a:r>
            <a:r>
              <a:rPr lang="ru-RU" sz="1400" dirty="0">
                <a:latin typeface="Arial Black" panose="020B0A04020102020204" pitchFamily="34" charset="0"/>
              </a:rPr>
              <a:t>а</a:t>
            </a:r>
            <a:r>
              <a:rPr lang="ru-RU" sz="1400" dirty="0" smtClean="0">
                <a:latin typeface="Arial Black" panose="020B0A04020102020204" pitchFamily="34" charset="0"/>
              </a:rPr>
              <a:t>реал обитания, краткое описание, местоположение и историю </a:t>
            </a:r>
            <a:r>
              <a:rPr lang="ru-RU" sz="1400" dirty="0" err="1" smtClean="0">
                <a:latin typeface="Arial Black" panose="020B0A04020102020204" pitchFamily="34" charset="0"/>
              </a:rPr>
              <a:t>фотофиксации</a:t>
            </a:r>
            <a:r>
              <a:rPr lang="ru-RU" sz="1400" dirty="0" smtClean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614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54" y="3578733"/>
            <a:ext cx="5103683" cy="164641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044" y="3537451"/>
            <a:ext cx="5068390" cy="164942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54" y="1737361"/>
            <a:ext cx="10485580" cy="121774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16818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535576" y="605978"/>
            <a:ext cx="5185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Arial Black" panose="020B0A04020102020204" pitchFamily="34" charset="0"/>
              </a:rPr>
              <a:t>ЭКОНОМИЧЕСКИЙ РАСЧЕТ</a:t>
            </a:r>
            <a:endParaRPr lang="ru-RU" sz="3600" dirty="0">
              <a:latin typeface="Arial Black" panose="020B0A04020102020204" pitchFamily="34" charset="0"/>
            </a:endParaRPr>
          </a:p>
        </p:txBody>
      </p:sp>
      <p:sp>
        <p:nvSpPr>
          <p:cNvPr id="5" name="AutoShape 4" descr="https://i.oneme.ru/i?r=B09HQN0Qr3SEKX3_pN2x36lf2TBU6NGYYi4RU9BactzCw5vUXF_YVOutR4LaIQAUXLCzgE4_f-zZKb0pb-Sk4dvJRRDo07UeoIAR5GmtYX4&amp;expires=179300722663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https://i.oneme.ru/i?r=B09HQN0Qr3SEKX3_pN2x36lf2TBU6NGYYi4RU9BactzCw5vUXF_YVOutR4LaIQAUXLCzgE4_f-zZKb0pb-Sk4dvJRRDo07UeoIAR5GmtYX4&amp;expires=1793007226636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82" name="Picture 10" descr="https://cdn.qwenlm.ai/output/da8f3f2a-e461-4819-91b1-8148404a584f/t2i/af943367-b20a-4fa5-a4e4-4504de0de032/17929073301b3e.png?key=eyJhbGciOiJIUzI1NiIsInR5cCI6IkpXVCJ9.eyJyZXNvdXJjZV91c2VyX2lkIjoiZGE4ZjNmMmEtZTQ2MS00ODE5LTkxYjEtODE0ODQwNGE1ODRmIiwicmVzb3VyY2VfaWQiOiIxNzkyOTA3MzMwMWIzZSIsInJlc291cmNlX2NoYXRfaWQiOiIyMzBhNTM0Yy05MGI5LTQ1NjEtOWY4OC1jMGY1N2I2NmNiNDkifQ.TKWifrYKNIMUmoJWGf0kyiHBUlaLQIZ5-YUsGNiaez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66"/>
            <a:ext cx="12267782" cy="684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225422" y="1147796"/>
            <a:ext cx="5185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Arial Black" panose="020B0A04020102020204" pitchFamily="34" charset="0"/>
              </a:rPr>
              <a:t>ЭКОНОМИЧЕСКИЙ РАСЧЕТ</a:t>
            </a:r>
            <a:endParaRPr lang="ru-RU" sz="3600" dirty="0">
              <a:latin typeface="Arial Black" panose="020B0A04020102020204" pitchFamily="34" charset="0"/>
            </a:endParaRPr>
          </a:p>
        </p:txBody>
      </p:sp>
      <p:sp>
        <p:nvSpPr>
          <p:cNvPr id="8" name="AutoShape 12" descr="https://i.oneme.ru/i?r=B09HQN0Qr3SEKX3_pN2x36lf2TBU6NGYYi4RU9BactzCw5vUXF_YVOutR4LaIQAUXLCzgE4_f-zZKb0pb-Sk4dvJRRDo07UeoIAR5GmtYX4&amp;expires=1793007226636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" y="3844764"/>
            <a:ext cx="11563810" cy="267271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9" name="TextBox 18"/>
          <p:cNvSpPr txBox="1"/>
          <p:nvPr/>
        </p:nvSpPr>
        <p:spPr>
          <a:xfrm>
            <a:off x="213182" y="2461698"/>
            <a:ext cx="11753396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dirty="0" smtClean="0">
                <a:latin typeface="Arial Black" panose="020B0A04020102020204" pitchFamily="34" charset="0"/>
              </a:rPr>
              <a:t>Подводя экономические расчеты, мы сделали вывод, что бюджетный вариант обойдется в </a:t>
            </a:r>
            <a:r>
              <a:rPr lang="en-US" sz="2000" dirty="0" smtClean="0">
                <a:latin typeface="Arial Black" panose="020B0A04020102020204" pitchFamily="34" charset="0"/>
              </a:rPr>
              <a:t>~</a:t>
            </a:r>
            <a:r>
              <a:rPr lang="ru-RU" sz="2000" dirty="0" smtClean="0">
                <a:latin typeface="Arial Black" panose="020B0A04020102020204" pitchFamily="34" charset="0"/>
              </a:rPr>
              <a:t> 500 тыс. руб., профессиональный – в районе 2 млн. руб. без учета строительства </a:t>
            </a:r>
            <a:r>
              <a:rPr lang="ru-RU" sz="2000" dirty="0" err="1" smtClean="0">
                <a:latin typeface="Arial Black" panose="020B0A04020102020204" pitchFamily="34" charset="0"/>
              </a:rPr>
              <a:t>здания.ё</a:t>
            </a:r>
            <a:endParaRPr lang="ru-RU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919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06" y="1910515"/>
            <a:ext cx="6407383" cy="391488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Прямоугольник 9"/>
          <p:cNvSpPr/>
          <p:nvPr/>
        </p:nvSpPr>
        <p:spPr>
          <a:xfrm>
            <a:off x="7735389" y="953589"/>
            <a:ext cx="3955868" cy="5081450"/>
          </a:xfrm>
          <a:prstGeom prst="rect">
            <a:avLst/>
          </a:prstGeom>
          <a:solidFill>
            <a:srgbClr val="F7F9E7"/>
          </a:solidFill>
          <a:ln>
            <a:solidFill>
              <a:schemeClr val="accent6">
                <a:lumMod val="7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7847512" y="1401433"/>
            <a:ext cx="3731622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222222"/>
                </a:solidFill>
                <a:latin typeface="Arial Black" panose="020B0A04020102020204" pitchFamily="34" charset="0"/>
              </a:rPr>
              <a:t>Жизнеспособность: </a:t>
            </a:r>
            <a:r>
              <a:rPr lang="ru-RU" sz="1400" dirty="0" smtClean="0">
                <a:solidFill>
                  <a:srgbClr val="222222"/>
                </a:solidFill>
                <a:latin typeface="Arial Black" panose="020B0A04020102020204" pitchFamily="34" charset="0"/>
              </a:rPr>
              <a:t/>
            </a:r>
            <a:br>
              <a:rPr lang="ru-RU" sz="1400" dirty="0" smtClean="0">
                <a:solidFill>
                  <a:srgbClr val="222222"/>
                </a:solidFill>
                <a:latin typeface="Arial Black" panose="020B0A04020102020204" pitchFamily="34" charset="0"/>
              </a:rPr>
            </a:br>
            <a:r>
              <a:rPr lang="ru-RU" sz="1400" dirty="0" smtClean="0">
                <a:solidFill>
                  <a:srgbClr val="222222"/>
                </a:solidFill>
                <a:latin typeface="Arial Black" panose="020B0A04020102020204" pitchFamily="34" charset="0"/>
              </a:rPr>
              <a:t>Создание </a:t>
            </a:r>
            <a:r>
              <a:rPr lang="ru-RU" sz="1400" dirty="0">
                <a:solidFill>
                  <a:srgbClr val="222222"/>
                </a:solidFill>
                <a:latin typeface="Arial Black" panose="020B0A04020102020204" pitchFamily="34" charset="0"/>
              </a:rPr>
              <a:t>отдельной оранжереи с жестким зонированием позволяет сохранить виды, которые невозможно содержать в общих теплицах</a:t>
            </a:r>
            <a:r>
              <a:rPr lang="ru-RU" sz="1400" dirty="0" smtClean="0">
                <a:solidFill>
                  <a:srgbClr val="222222"/>
                </a:solidFill>
                <a:latin typeface="Arial Black" panose="020B0A04020102020204" pitchFamily="34" charset="0"/>
              </a:rPr>
              <a:t>.</a:t>
            </a:r>
            <a:br>
              <a:rPr lang="ru-RU" sz="1400" dirty="0" smtClean="0">
                <a:solidFill>
                  <a:srgbClr val="222222"/>
                </a:solidFill>
                <a:latin typeface="Arial Black" panose="020B0A04020102020204" pitchFamily="34" charset="0"/>
              </a:rPr>
            </a:br>
            <a:r>
              <a:rPr lang="ru-RU" sz="1400" dirty="0" smtClean="0">
                <a:solidFill>
                  <a:srgbClr val="222222"/>
                </a:solidFill>
                <a:latin typeface="Arial Black" panose="020B0A04020102020204" pitchFamily="34" charset="0"/>
              </a:rPr>
              <a:t/>
            </a:r>
            <a:br>
              <a:rPr lang="ru-RU" sz="1400" dirty="0" smtClean="0">
                <a:solidFill>
                  <a:srgbClr val="222222"/>
                </a:solidFill>
                <a:latin typeface="Arial Black" panose="020B0A04020102020204" pitchFamily="34" charset="0"/>
              </a:rPr>
            </a:br>
            <a:r>
              <a:rPr lang="ru-RU" sz="1400" dirty="0">
                <a:latin typeface="Arial Black" panose="020B0A04020102020204" pitchFamily="34" charset="0"/>
              </a:rPr>
              <a:t>Автоматизация: </a:t>
            </a:r>
            <a:r>
              <a:rPr lang="ru-RU" sz="1400" dirty="0" smtClean="0">
                <a:latin typeface="Arial Black" panose="020B0A04020102020204" pitchFamily="34" charset="0"/>
              </a:rPr>
              <a:t/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smtClean="0">
                <a:latin typeface="Arial Black" panose="020B0A04020102020204" pitchFamily="34" charset="0"/>
              </a:rPr>
              <a:t>Гибридная </a:t>
            </a:r>
            <a:r>
              <a:rPr lang="ru-RU" sz="1400" dirty="0">
                <a:latin typeface="Arial Black" panose="020B0A04020102020204" pitchFamily="34" charset="0"/>
              </a:rPr>
              <a:t>система (промышленные датчики + бюджетные </a:t>
            </a:r>
            <a:r>
              <a:rPr lang="ru-RU" sz="1400" dirty="0" err="1">
                <a:latin typeface="Arial Black" panose="020B0A04020102020204" pitchFamily="34" charset="0"/>
              </a:rPr>
              <a:t>актюаторы</a:t>
            </a:r>
            <a:r>
              <a:rPr lang="ru-RU" sz="1400" dirty="0">
                <a:latin typeface="Arial Black" panose="020B0A04020102020204" pitchFamily="34" charset="0"/>
              </a:rPr>
              <a:t>) обеспечивает </a:t>
            </a:r>
            <a:r>
              <a:rPr lang="ru-RU" sz="1400" dirty="0" smtClean="0">
                <a:latin typeface="Arial Black" panose="020B0A04020102020204" pitchFamily="34" charset="0"/>
              </a:rPr>
              <a:t>надежность</a:t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smtClean="0">
                <a:latin typeface="Arial Black" panose="020B0A04020102020204" pitchFamily="34" charset="0"/>
              </a:rPr>
              <a:t/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>
                <a:latin typeface="Arial Black" panose="020B0A04020102020204" pitchFamily="34" charset="0"/>
              </a:rPr>
              <a:t>Образование: </a:t>
            </a:r>
            <a:r>
              <a:rPr lang="ru-RU" sz="1400" dirty="0" smtClean="0">
                <a:latin typeface="Arial Black" panose="020B0A04020102020204" pitchFamily="34" charset="0"/>
              </a:rPr>
              <a:t/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smtClean="0">
                <a:latin typeface="Arial Black" panose="020B0A04020102020204" pitchFamily="34" charset="0"/>
              </a:rPr>
              <a:t>Проект </a:t>
            </a:r>
            <a:r>
              <a:rPr lang="ru-RU" sz="1400" dirty="0">
                <a:latin typeface="Arial Black" panose="020B0A04020102020204" pitchFamily="34" charset="0"/>
              </a:rPr>
              <a:t>становится живой лабораторией для школьников и студентов, демонстрируя синтез биологии, химии и инженерии.</a:t>
            </a:r>
          </a:p>
          <a:p>
            <a:endParaRPr lang="ru-RU" sz="1400" i="0" dirty="0">
              <a:solidFill>
                <a:srgbClr val="222222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68159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203</Words>
  <Application>Microsoft Office PowerPoint</Application>
  <PresentationFormat>Широкоэкранный</PresentationFormat>
  <Paragraphs>24</Paragraphs>
  <Slides>9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system-ui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Шилков Д.А.</dc:creator>
  <cp:lastModifiedBy>Хакатон</cp:lastModifiedBy>
  <cp:revision>16</cp:revision>
  <dcterms:created xsi:type="dcterms:W3CDTF">2026-10-23T12:20:56Z</dcterms:created>
  <dcterms:modified xsi:type="dcterms:W3CDTF">2026-10-25T06:12:38Z</dcterms:modified>
</cp:coreProperties>
</file>